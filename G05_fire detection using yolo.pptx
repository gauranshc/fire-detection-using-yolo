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3640" r:id="rId2"/>
    <p:sldId id="3694" r:id="rId3"/>
    <p:sldId id="3697" r:id="rId4"/>
    <p:sldId id="3700" r:id="rId5"/>
    <p:sldId id="3701" r:id="rId6"/>
    <p:sldId id="3702" r:id="rId7"/>
    <p:sldId id="3708" r:id="rId8"/>
    <p:sldId id="3707" r:id="rId9"/>
    <p:sldId id="3706" r:id="rId10"/>
    <p:sldId id="364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keshi Parnami" initials="SP" lastIdx="1" clrIdx="0">
    <p:extLst>
      <p:ext uri="{19B8F6BF-5375-455C-9EA6-DF929625EA0E}">
        <p15:presenceInfo xmlns:p15="http://schemas.microsoft.com/office/powerpoint/2012/main" userId="S::sparnami@upes.ac.in::61686955-4e93-4ddb-a545-ba82f91d1f9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36FF"/>
    <a:srgbClr val="4AAEFC"/>
    <a:srgbClr val="434ACF"/>
    <a:srgbClr val="BF2CFE"/>
    <a:srgbClr val="46B0FA"/>
    <a:srgbClr val="27D4F8"/>
    <a:srgbClr val="D9FF00"/>
    <a:srgbClr val="E0E600"/>
    <a:srgbClr val="0B2F3E"/>
    <a:srgbClr val="B1B1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307" autoAdjust="0"/>
    <p:restoredTop sz="96327"/>
  </p:normalViewPr>
  <p:slideViewPr>
    <p:cSldViewPr snapToGrid="0" snapToObjects="1">
      <p:cViewPr varScale="1">
        <p:scale>
          <a:sx n="98" d="100"/>
          <a:sy n="98" d="100"/>
        </p:scale>
        <p:origin x="200" y="7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E9D15D-1C13-CC45-BE09-4D54E9A973B4}" type="datetimeFigureOut">
              <a:rPr lang="en-US" smtClean="0"/>
              <a:t>7/27/26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93A8CF-95A7-924D-878B-183116A25D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962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C73FB-2D72-9945-BF45-5347690BB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3C615-989D-9D44-8501-FCE01FCED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E5F24-53F9-054C-A9F8-3DCFACAB98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3D9895-3AFC-9E49-BB6B-D5AF81433D95}" type="datetimeFigureOut">
              <a:rPr lang="en-US" smtClean="0"/>
              <a:t>7/27/26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E7FB8-C70E-584A-A086-8852BD639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5C156-1A78-7A4C-AB86-BCA1B1785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F45BD75-B1E6-DE4E-8CD3-58B4BE092B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71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4240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3F520-AAB7-4D20-958E-A456239933B0}" type="datetimeFigureOut">
              <a:rPr lang="en-US" smtClean="0"/>
              <a:t>7/27/26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316BF-8A16-4F24-9F8F-9D40354D5A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340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2C0DC26-5D78-6140-BF89-41378C4365C1}"/>
              </a:ext>
            </a:extLst>
          </p:cNvPr>
          <p:cNvSpPr/>
          <p:nvPr userDrawn="1"/>
        </p:nvSpPr>
        <p:spPr>
          <a:xfrm>
            <a:off x="98853" y="86497"/>
            <a:ext cx="11998411" cy="6685005"/>
          </a:xfrm>
          <a:prstGeom prst="rect">
            <a:avLst/>
          </a:prstGeom>
          <a:noFill/>
          <a:ln w="28575">
            <a:solidFill>
              <a:srgbClr val="46B0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5EF86C0-A360-484B-B595-7CC69137B5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2813" r="7454"/>
          <a:stretch/>
        </p:blipFill>
        <p:spPr>
          <a:xfrm>
            <a:off x="10718090" y="127821"/>
            <a:ext cx="1336257" cy="54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464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pengbo00/home-fire-dataset?utm_source=chatgpt.com" TargetMode="External"/><Relationship Id="rId2" Type="http://schemas.openxmlformats.org/officeDocument/2006/relationships/hyperlink" Target="https://github.com/ultralytics/ultralytics?utm_source=chatgpt.com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E8895C2-828B-934B-8B58-BBC23AD3665A}"/>
              </a:ext>
            </a:extLst>
          </p:cNvPr>
          <p:cNvSpPr/>
          <p:nvPr/>
        </p:nvSpPr>
        <p:spPr>
          <a:xfrm>
            <a:off x="10668000" y="150471"/>
            <a:ext cx="1381246" cy="682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text, sign, outdoor&#10;&#10;Description automatically generated">
            <a:extLst>
              <a:ext uri="{FF2B5EF4-FFF2-40B4-BE49-F238E27FC236}">
                <a16:creationId xmlns:a16="http://schemas.microsoft.com/office/drawing/2014/main" id="{35C12C04-5CEF-8448-B70C-56FE6AD03C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829" y="126108"/>
            <a:ext cx="876170" cy="1491678"/>
          </a:xfrm>
          <a:prstGeom prst="rect">
            <a:avLst/>
          </a:prstGeom>
        </p:spPr>
      </p:pic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2F3CE5-A64B-4B6C-9275-01E87181F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017" y="143688"/>
            <a:ext cx="4564228" cy="147409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756262" y="1532487"/>
            <a:ext cx="67012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/>
              <a:t>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6462" y="2599027"/>
            <a:ext cx="9948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/>
              <a:t>Title: Fire Detection using YOLO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29" y="5003074"/>
            <a:ext cx="52038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Presented by:</a:t>
            </a:r>
          </a:p>
          <a:p>
            <a:r>
              <a:rPr lang="en-IN" dirty="0"/>
              <a:t>Roll number  - R2142221445 Gauransh Chauhan </a:t>
            </a:r>
          </a:p>
        </p:txBody>
      </p:sp>
    </p:spTree>
    <p:extLst>
      <p:ext uri="{BB962C8B-B14F-4D97-AF65-F5344CB8AC3E}">
        <p14:creationId xmlns:p14="http://schemas.microsoft.com/office/powerpoint/2010/main" val="1627799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lang="en-IN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1071154" y="1247350"/>
            <a:ext cx="4650377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Working Model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References 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15646" y="5323840"/>
            <a:ext cx="428897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/>
              <a:t>Colour Code:</a:t>
            </a:r>
          </a:p>
          <a:p>
            <a:r>
              <a:rPr lang="en-IN" sz="1100" dirty="0"/>
              <a:t>Synopsis:  </a:t>
            </a:r>
            <a:r>
              <a:rPr lang="en-IN" sz="1100" dirty="0">
                <a:solidFill>
                  <a:srgbClr val="FF0000"/>
                </a:solidFill>
              </a:rPr>
              <a:t>Red</a:t>
            </a:r>
          </a:p>
          <a:p>
            <a:r>
              <a:rPr lang="en-IN" sz="1100" dirty="0"/>
              <a:t>Mid term: </a:t>
            </a:r>
            <a:r>
              <a:rPr lang="en-IN" sz="1100" dirty="0">
                <a:solidFill>
                  <a:schemeClr val="accent2"/>
                </a:solidFill>
              </a:rPr>
              <a:t>Orange</a:t>
            </a:r>
          </a:p>
          <a:p>
            <a:r>
              <a:rPr lang="en-IN" sz="1100" dirty="0"/>
              <a:t>End Term: </a:t>
            </a:r>
            <a:r>
              <a:rPr lang="en-IN" sz="1100" dirty="0">
                <a:solidFill>
                  <a:srgbClr val="AE36FF"/>
                </a:solidFill>
              </a:rPr>
              <a:t>Purple</a:t>
            </a:r>
          </a:p>
          <a:p>
            <a:pPr algn="r"/>
            <a:r>
              <a:rPr lang="en-IN" sz="1100" b="1" dirty="0"/>
              <a:t>Note: The Following presentation will have all the content of the later.</a:t>
            </a:r>
            <a:endParaRPr lang="en-IN" sz="1100" b="1" dirty="0">
              <a:solidFill>
                <a:srgbClr val="AE36FF"/>
              </a:solidFill>
            </a:endParaRPr>
          </a:p>
          <a:p>
            <a:endParaRPr lang="en-IN" sz="1100" dirty="0">
              <a:solidFill>
                <a:srgbClr val="AE3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729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03624" y="311710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IN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446049" y="1351508"/>
            <a:ext cx="10343548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000" b="1" dirty="0"/>
              <a:t>Problem</a:t>
            </a:r>
            <a:r>
              <a:rPr lang="en-IN" sz="2000" dirty="0"/>
              <a:t>: Fire accidents at home cause heavy damage and loss of life. Early detection is crucial to prevent disasters.</a:t>
            </a:r>
          </a:p>
          <a:p>
            <a:pPr>
              <a:buNone/>
            </a:pPr>
            <a:r>
              <a:rPr lang="en-IN" sz="2000" b="1" dirty="0"/>
              <a:t>Solution</a:t>
            </a:r>
            <a:r>
              <a:rPr lang="en-IN" sz="2000" dirty="0"/>
              <a:t>: We are developing a real-time fire detection system that recognizes flames and smoke from images.</a:t>
            </a:r>
          </a:p>
          <a:p>
            <a:pPr>
              <a:buNone/>
            </a:pPr>
            <a:r>
              <a:rPr lang="en-IN" sz="2000" b="1" dirty="0"/>
              <a:t>Applications</a:t>
            </a:r>
            <a:r>
              <a:rPr lang="en-IN" sz="2000" dirty="0"/>
              <a:t>: Useful in smart homes, IoT surveillance, emergency response, and industrial safety.</a:t>
            </a:r>
          </a:p>
          <a:p>
            <a:pPr>
              <a:buNone/>
            </a:pPr>
            <a:r>
              <a:rPr lang="en-IN" sz="2000" b="1" dirty="0"/>
              <a:t>Dataset</a:t>
            </a:r>
            <a:r>
              <a:rPr lang="en-IN" sz="2000" dirty="0"/>
              <a:t>: About 6,500 images of indoor fire scenarios (flames &amp; smoke in varied conditions), with YOLO-format annotations for training and testing.</a:t>
            </a:r>
          </a:p>
          <a:p>
            <a:pPr>
              <a:buNone/>
            </a:pPr>
            <a:r>
              <a:rPr lang="en-IN" sz="2000" b="1" dirty="0"/>
              <a:t>Technology</a:t>
            </a:r>
            <a:r>
              <a:rPr lang="en-IN" sz="2000" dirty="0"/>
              <a:t>: Built using </a:t>
            </a:r>
            <a:r>
              <a:rPr lang="en-IN" sz="2000" b="1" dirty="0"/>
              <a:t>YOLOv8</a:t>
            </a:r>
            <a:r>
              <a:rPr lang="en-IN" sz="2000" dirty="0"/>
              <a:t> (a modern deep learning model in </a:t>
            </a:r>
            <a:r>
              <a:rPr lang="en-IN" sz="2000" dirty="0" err="1"/>
              <a:t>PyTorch</a:t>
            </a:r>
            <a:r>
              <a:rPr lang="en-IN" sz="2000" dirty="0"/>
              <a:t>) with data augmentation to improve learning.</a:t>
            </a:r>
          </a:p>
          <a:p>
            <a:r>
              <a:rPr lang="en-IN" sz="2000" b="1" dirty="0"/>
              <a:t>Evaluation</a:t>
            </a:r>
            <a:r>
              <a:rPr lang="en-IN" sz="2000" dirty="0"/>
              <a:t>: Performance measured with </a:t>
            </a:r>
            <a:r>
              <a:rPr lang="en-IN" sz="2000" dirty="0" err="1"/>
              <a:t>mAP</a:t>
            </a:r>
            <a:r>
              <a:rPr lang="en-IN" sz="2000" dirty="0"/>
              <a:t> (mean Average Precision), showing how accurately the system detects fires.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80493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23448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345688" y="1374033"/>
            <a:ext cx="1067871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Earlier studies used basic computer vision and CNN models for fire detection, but they often failed to detect fires quickly in their early stages </a:t>
            </a:r>
            <a:r>
              <a:rPr lang="en-IN" sz="20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because the flames/smoke were small, faint, easily confused with background, and training datasets were limited.</a:t>
            </a:r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Strength: Real-time detection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Weakness: Requires large dataset and GPU resources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Opportunity: Integration with smart devices like smartphone app, smart camera, home camera etc.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Threat: Dataset bias and false alarms causing false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possitive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963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  <a:endParaRPr lang="en-IN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1071154" y="1064470"/>
            <a:ext cx="99010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develop a real-time, accurate, and reliable fire detection system using YOLOv8 </a:t>
            </a:r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that can accurately recognize flames and smoke in indoor environments.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5BA3DE-2D37-21E9-1E3D-3D9539A71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633" y="2241395"/>
            <a:ext cx="10359483" cy="363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005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en-IN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1071154" y="1064470"/>
            <a:ext cx="990100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IN" b="1" i="0" u="sng" strike="noStrike" dirty="0">
                <a:solidFill>
                  <a:srgbClr val="000000"/>
                </a:solidFill>
                <a:effectLst/>
              </a:rPr>
              <a:t>Reference Software Model</a:t>
            </a:r>
            <a:endParaRPr lang="en-IN" b="0" i="0" u="sng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YOLOv8 object detection model (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Ultralytics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PyTorch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-based).</a:t>
            </a:r>
          </a:p>
          <a:p>
            <a:pPr algn="l">
              <a:buFont typeface="+mj-lt"/>
              <a:buAutoNum type="arabicPeriod"/>
            </a:pPr>
            <a:r>
              <a:rPr lang="en-IN" b="1" i="0" u="sng" strike="noStrike" dirty="0">
                <a:solidFill>
                  <a:srgbClr val="000000"/>
                </a:solidFill>
                <a:effectLst/>
              </a:rPr>
              <a:t>Steps</a:t>
            </a:r>
            <a:endParaRPr lang="en-IN" b="0" i="0" u="sng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Dataset Preparation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- Collect and structure ~6,500 fire images with YOLO-format annotations.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Data Verification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- Check correctness of labels and dataset splits (train/validation/test).</a:t>
            </a:r>
          </a:p>
          <a:p>
            <a:pPr marL="742950" lvl="1" indent="-285750" algn="l">
              <a:buFont typeface="+mj-lt"/>
              <a:buAutoNum type="arabicPeriod"/>
            </a:pPr>
            <a:endParaRPr lang="en-IN" b="1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endParaRPr lang="en-IN" b="1" dirty="0">
              <a:solidFill>
                <a:srgbClr val="000000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endParaRPr lang="en-IN" b="1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endParaRPr lang="en-IN" b="1" dirty="0">
              <a:solidFill>
                <a:srgbClr val="000000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endParaRPr lang="en-IN" b="1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endParaRPr lang="en-IN" b="1" dirty="0">
              <a:solidFill>
                <a:srgbClr val="000000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endParaRPr lang="en-IN" b="1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endParaRPr lang="en-IN" b="1" dirty="0">
              <a:solidFill>
                <a:srgbClr val="000000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endParaRPr lang="en-IN" b="1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endParaRPr lang="en-IN" b="1" dirty="0">
              <a:solidFill>
                <a:srgbClr val="000000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endParaRPr lang="en-IN" b="1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endParaRPr lang="en-IN" b="1" dirty="0">
              <a:solidFill>
                <a:srgbClr val="000000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endParaRPr lang="en-IN" b="1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endParaRPr lang="en-IN" b="1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A572C4-94EE-4BF8-DB4A-4E7F9FDE3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808" y="2844187"/>
            <a:ext cx="2314815" cy="30608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064357-4913-DB08-E5FA-58E77DBEC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30" y="2832781"/>
            <a:ext cx="1472890" cy="353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667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ADEA57-CB20-F6CF-4D38-9B6633C198AB}"/>
              </a:ext>
            </a:extLst>
          </p:cNvPr>
          <p:cNvSpPr txBox="1"/>
          <p:nvPr/>
        </p:nvSpPr>
        <p:spPr>
          <a:xfrm>
            <a:off x="234175" y="723022"/>
            <a:ext cx="1109546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l"/>
            <a:r>
              <a:rPr lang="en-IN" dirty="0">
                <a:solidFill>
                  <a:srgbClr val="000000"/>
                </a:solidFill>
              </a:rPr>
              <a:t>(Continued steps)</a:t>
            </a:r>
            <a:endParaRPr lang="en-IN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Model Training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- Train YOLOv8 with optimized hyperparameters (epochs, batch size).</a:t>
            </a:r>
          </a:p>
          <a:p>
            <a:pPr marL="742950" lvl="1" indent="-285750" algn="l">
              <a:buFont typeface="+mj-lt"/>
              <a:buAutoNum type="arabicPeriod"/>
            </a:pP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endParaRPr lang="en-IN" b="1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endParaRPr lang="en-IN" b="1" dirty="0">
              <a:solidFill>
                <a:srgbClr val="000000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endParaRPr lang="en-IN" b="1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endParaRPr lang="en-IN" b="1" dirty="0">
              <a:solidFill>
                <a:srgbClr val="000000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endParaRPr lang="en-IN" b="1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endParaRPr lang="en-IN" b="1" dirty="0">
              <a:solidFill>
                <a:srgbClr val="000000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endParaRPr lang="en-IN" b="1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endParaRPr lang="en-IN" b="1" dirty="0">
              <a:solidFill>
                <a:srgbClr val="000000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endParaRPr lang="en-IN" b="1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endParaRPr lang="en-IN" b="1" dirty="0">
              <a:solidFill>
                <a:srgbClr val="000000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endParaRPr lang="en-IN" b="1" i="0" u="none" strike="noStrike" dirty="0">
              <a:solidFill>
                <a:srgbClr val="000000"/>
              </a:solidFill>
              <a:effectLst/>
            </a:endParaRPr>
          </a:p>
          <a:p>
            <a:pPr lvl="1" algn="l"/>
            <a:endParaRPr lang="en-IN" b="1" dirty="0">
              <a:solidFill>
                <a:srgbClr val="000000"/>
              </a:solidFill>
            </a:endParaRPr>
          </a:p>
          <a:p>
            <a:pPr lvl="1"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2. Model Validation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- Evaluate accuracy using 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mAP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, precision, recall.</a:t>
            </a:r>
          </a:p>
          <a:p>
            <a:pPr lvl="1"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3. Inference Testing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- Test model on unseen images/videos to check real-world performance.</a:t>
            </a:r>
          </a:p>
          <a:p>
            <a:pPr lvl="1"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4. Model Export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- Convert trained model into deployable formats (ONNX, 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TorchScript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).</a:t>
            </a:r>
          </a:p>
          <a:p>
            <a:pPr lvl="1"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5. Visualization &amp; Analysis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- Generate plots (loss curves, precision-recall) and 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analyze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results.</a:t>
            </a:r>
          </a:p>
          <a:p>
            <a:pPr algn="l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CE5064-DFBF-F3A4-B2BE-231C5F35D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571" y="1455812"/>
            <a:ext cx="1906858" cy="327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811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25AFA3-6483-CD20-1AE9-9A26B423DBC5}"/>
              </a:ext>
            </a:extLst>
          </p:cNvPr>
          <p:cNvSpPr txBox="1"/>
          <p:nvPr/>
        </p:nvSpPr>
        <p:spPr>
          <a:xfrm>
            <a:off x="1360449" y="1395244"/>
            <a:ext cx="89655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3.</a:t>
            </a:r>
            <a:r>
              <a:rPr lang="en-IN" b="1" i="0" u="sng" strike="noStrike" dirty="0">
                <a:solidFill>
                  <a:srgbClr val="000000"/>
                </a:solidFill>
                <a:effectLst/>
              </a:rPr>
              <a:t>Deliverables</a:t>
            </a:r>
            <a:endParaRPr lang="en-IN" b="0" i="0" u="sng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A trained YOLOv8 fire detection model.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Performance evaluation metrics and visualizations.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Exported model files ready for deployment.</a:t>
            </a:r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4.</a:t>
            </a:r>
            <a:r>
              <a:rPr lang="en-IN" b="1" i="0" u="sng" strike="noStrike" dirty="0">
                <a:solidFill>
                  <a:srgbClr val="000000"/>
                </a:solidFill>
                <a:effectLst/>
              </a:rPr>
              <a:t>Timeline</a:t>
            </a:r>
            <a:endParaRPr lang="en-IN" b="0" i="0" u="sng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Week 1–2 → Dataset preparation &amp; verification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Week 3–5 → Model training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Week 6 → Validation &amp; inference testing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Week 7 → Export &amp; analysis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Week 8 → Documentation &amp; presentation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77708C-787C-B159-D661-F1756714D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214" y="1215439"/>
            <a:ext cx="3598421" cy="456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660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822959" y="1312664"/>
            <a:ext cx="990100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000" b="1" u="sng" dirty="0"/>
              <a:t>List of cited papers: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err="1"/>
              <a:t>Bochkovskiy</a:t>
            </a:r>
            <a:r>
              <a:rPr lang="en-IN" sz="2000" dirty="0"/>
              <a:t>, A., Wang, C.Y., &amp; Liao, H.Y.M. (2020). </a:t>
            </a:r>
            <a:r>
              <a:rPr lang="en-IN" sz="2000" i="1" dirty="0"/>
              <a:t>YOLOv4: Optimal Speed and Accuracy of Object Detection.</a:t>
            </a:r>
            <a:r>
              <a:rPr lang="en-IN" sz="2000" dirty="0"/>
              <a:t>arXiv:2004.10934.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err="1"/>
              <a:t>Jocher</a:t>
            </a:r>
            <a:r>
              <a:rPr lang="en-IN" sz="2000" dirty="0"/>
              <a:t>, G., et al. (2023). </a:t>
            </a:r>
            <a:r>
              <a:rPr lang="en-IN" sz="2000" i="1" dirty="0"/>
              <a:t>YOLOv8: </a:t>
            </a:r>
            <a:r>
              <a:rPr lang="en-IN" sz="2000" i="1" dirty="0" err="1"/>
              <a:t>Ultralytics</a:t>
            </a:r>
            <a:r>
              <a:rPr lang="en-IN" sz="2000" i="1" dirty="0"/>
              <a:t> Official Implementation.</a:t>
            </a:r>
            <a:r>
              <a:rPr lang="en-IN" sz="2000" dirty="0"/>
              <a:t> </a:t>
            </a:r>
            <a:r>
              <a:rPr lang="en-IN" sz="2000" dirty="0">
                <a:hlinkClick r:id="rId2"/>
              </a:rPr>
              <a:t>GitHub Repository</a:t>
            </a:r>
            <a:r>
              <a:rPr lang="en-IN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Muhammad, K., et al. (2018). </a:t>
            </a:r>
            <a:r>
              <a:rPr lang="en-IN" sz="2000" i="1" dirty="0"/>
              <a:t>Efficient Fire Detection for Uncertain Surveillance Environment.</a:t>
            </a:r>
            <a:r>
              <a:rPr lang="en-IN" sz="2000" dirty="0"/>
              <a:t> IEEE Transactions on Industrial Informatics.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Peng, J., Feng, T., &amp; Liu, C. (2022). </a:t>
            </a:r>
            <a:r>
              <a:rPr lang="en-IN" sz="2000" i="1" dirty="0"/>
              <a:t>Home-Fire Dataset.</a:t>
            </a:r>
            <a:r>
              <a:rPr lang="en-IN" sz="2000" dirty="0"/>
              <a:t> Kaggle. </a:t>
            </a:r>
            <a:r>
              <a:rPr lang="en-IN" sz="2000" dirty="0">
                <a:hlinkClick r:id="rId3"/>
              </a:rPr>
              <a:t>https://www.kaggle.com/datasets/pengbo00/home-fire-dataset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err="1"/>
              <a:t>Krizhevsky</a:t>
            </a:r>
            <a:r>
              <a:rPr lang="en-IN" sz="2000" dirty="0"/>
              <a:t>, A., </a:t>
            </a:r>
            <a:r>
              <a:rPr lang="en-IN" sz="2000" dirty="0" err="1"/>
              <a:t>Sutskever</a:t>
            </a:r>
            <a:r>
              <a:rPr lang="en-IN" sz="2000" dirty="0"/>
              <a:t>, I., &amp; Hinton, G.E. (2012). </a:t>
            </a:r>
            <a:r>
              <a:rPr lang="en-IN" sz="2000" i="1" dirty="0"/>
              <a:t>ImageNet Classification with Deep Convolutional Neural </a:t>
            </a:r>
            <a:r>
              <a:rPr lang="en-IN" sz="2000" i="1" dirty="0" err="1"/>
              <a:t>Networks.</a:t>
            </a:r>
            <a:r>
              <a:rPr lang="en-IN" sz="2000" dirty="0" err="1"/>
              <a:t>NeurIPS</a:t>
            </a:r>
            <a:r>
              <a:rPr lang="en-IN" sz="2000" dirty="0"/>
              <a:t>.</a:t>
            </a:r>
          </a:p>
          <a:p>
            <a:endParaRPr lang="en-US" sz="2000" dirty="0">
              <a:solidFill>
                <a:srgbClr val="AE3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081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D82EA-6098-704F-AD4D-D13A499C492D}"/>
              </a:ext>
            </a:extLst>
          </p:cNvPr>
          <p:cNvSpPr txBox="1"/>
          <p:nvPr/>
        </p:nvSpPr>
        <p:spPr>
          <a:xfrm>
            <a:off x="1895294" y="3601496"/>
            <a:ext cx="8401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IN" sz="7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FBB1AB-6227-0A49-9677-D759BB97E908}"/>
              </a:ext>
            </a:extLst>
          </p:cNvPr>
          <p:cNvSpPr/>
          <p:nvPr/>
        </p:nvSpPr>
        <p:spPr>
          <a:xfrm>
            <a:off x="10668000" y="150471"/>
            <a:ext cx="1381246" cy="682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3B91EF5-66BF-4A12-80C1-98869846E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880" y="1709987"/>
            <a:ext cx="4206240" cy="180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348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14628</TotalTime>
  <Words>626</Words>
  <Application>Microsoft Macintosh PowerPoint</Application>
  <PresentationFormat>Widescreen</PresentationFormat>
  <Paragraphs>96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Stuti Gandhi</dc:creator>
  <cp:lastModifiedBy>Gauransh Chauhan</cp:lastModifiedBy>
  <cp:revision>573</cp:revision>
  <dcterms:created xsi:type="dcterms:W3CDTF">2021-05-06T09:42:21Z</dcterms:created>
  <dcterms:modified xsi:type="dcterms:W3CDTF">2026-07-27T16:41:39Z</dcterms:modified>
</cp:coreProperties>
</file>